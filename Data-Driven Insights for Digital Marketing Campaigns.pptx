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361D-3698-FDF3-4D80-B92C870C9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1A5E1-10E2-38BE-B1D2-6C657322B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4839F-08C7-C3C5-1C29-394C3E73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25E6D-4651-519F-3ECE-2D962AD3A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22928-7BCF-E151-4DCF-B7CE9DDE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1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F43EE-C9EF-0B06-7490-84F535DC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5D46B-FAA8-34E1-AEDC-D41235E00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2C76A-456D-6579-22F4-E5F9305C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2720D-B3E9-6E62-7851-9E0F509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0E697-171F-0619-7C9F-18798C70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3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64EE-BBDA-8611-232E-4CD7B045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9D3EA-D0D4-98E9-768D-0EE096567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26D93-C153-4487-9D79-1C254992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A09C6-F6C8-5C38-1F14-E98E1D73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A757-1EB3-18F0-91A3-DF424FF4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3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ADE3-7E1E-C7B1-C212-EEEBEA04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C125-C50C-B296-D047-588685675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A6C8E-1461-8F94-4C5D-E3BF89155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7B45F-5AEF-088E-B68E-F1406C7A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ED7AF-E334-A37D-13AE-F7E28E4F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447F5-8734-BE05-C290-C234B5F0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1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C882-CD84-55B7-A307-82B914A9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93595-F706-AD7F-C4E8-8EBFDDC16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E2422-1E84-45F9-CA99-471332E0D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F79399-2F3E-D7B1-B5E7-7AF55B53B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27BD7-C846-9C8D-BF0A-2D509339C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2E322-5079-A6AD-EF3C-F03A9B0C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DCC7E-0CEC-B302-E2E9-07D69CB1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DDD90-6F1A-6FCA-E1DA-243844A2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7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5124D-9957-5E71-9E58-643A4BE9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2FE2AA-A8F3-6905-E755-8E649848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0E530-489A-2F91-F67A-154F8F71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93F31-3EA2-AFCD-E74A-140B9939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5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6C4B9-9FFF-4EBC-7B53-889B15140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549E1-895F-7EE6-F8D7-0889F00B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39E03-D443-74BB-F3F3-51096C32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8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998E-E1FB-B1F0-F448-E8AB6B26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20E14-3F20-FBC3-6F43-D79628AED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5F8D-B78A-9A0C-D9EC-B891146B6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A9FDA-83D9-CF2B-438D-C92DA859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EE331-12A6-46D8-3D81-A2816235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78BA3-D1E8-1A1F-CB54-369DA6AC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36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67F5-A568-E99E-C57D-A9D07F82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CB850-0032-C10B-3386-9E1BD9494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D512E-9E77-1226-78CC-03A03B3C1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A73C7-CC53-66A9-B767-F8855EE5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ACDF2-52B9-C45E-F272-71BA95D2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9208B-5D9B-0662-C944-9375C003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8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D403-C856-49F4-F980-1E2FFE3D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C97AD-ED83-4EEB-E6B8-7D0163F5C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0B82-49A3-B0C9-E334-2DE8EB31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D3E50-EA04-9169-3C08-FB814A85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A82A7-C75F-38DA-30D2-347F99742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4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110EF-EF5E-08BD-1E72-A3FDF9E24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31282-0280-27AF-6748-8D9C3A9D8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4A5BB-8F53-97FA-8D21-CD47ADD34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2A249-BC69-EC37-8808-41E4EB10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A2C7F-CB00-14D2-6942-44340EEB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1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A6EDF-FE27-4591-B6E4-1B7127C2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B5A0-0ACA-D578-5726-8CBF21295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C92C5-5294-E137-E49B-6B0F42818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FDCC3-6091-4769-BE88-577ECD4679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3A4EE-DACB-B5D0-8D82-BB69BD8CC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EE100-5A3C-C7EB-C2D1-15D6933B6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52B38-9678-43C5-9CAA-2F7B4CF69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6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9EF7-2A89-A3F9-BEDE-A4FD9210E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Data-Driven Insights for Digital Marketing Campaigns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7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706C2-5DE7-5596-EEAA-FA21D5F3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75F0-3B39-192B-E401-3DC0C6C75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67923"/>
            <a:ext cx="9144000" cy="1051211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Data Cleaning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DE3E5-9243-92A5-DF8E-3C621C761F31}"/>
              </a:ext>
            </a:extLst>
          </p:cNvPr>
          <p:cNvSpPr txBox="1"/>
          <p:nvPr/>
        </p:nvSpPr>
        <p:spPr>
          <a:xfrm>
            <a:off x="734518" y="2083633"/>
            <a:ext cx="896411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most important cleaning tasks are: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Checked  all Column data formats.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Checked for Unnamed columns.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Checked for Null value.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Convert time fields (11s, 1m 49s) to numeric seconds.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16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67B71-5FE1-B602-3077-92C005E1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A4E9-32C6-D41D-69EF-0F9DD80CD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67923"/>
            <a:ext cx="9144000" cy="70788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Important KPI’s from Data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4F8DA-E8C5-CF90-0A66-E4F302015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77" y="1479881"/>
            <a:ext cx="10757645" cy="2657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276CFF-35B3-D2B1-1ED4-CEDDDCF6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97" y="4730328"/>
            <a:ext cx="3693752" cy="171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98E1E-DFEB-0927-9E16-DA5221AE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A7EE-2C61-DEA2-B5C6-7FD4BB7DF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67924"/>
            <a:ext cx="9144000" cy="88632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Country Wise User Total</a:t>
            </a: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81420-E21E-E000-8329-61A76F1AD958}"/>
              </a:ext>
            </a:extLst>
          </p:cNvPr>
          <p:cNvSpPr txBox="1"/>
          <p:nvPr/>
        </p:nvSpPr>
        <p:spPr>
          <a:xfrm>
            <a:off x="867079" y="1648918"/>
            <a:ext cx="1058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FE772-77D2-A9C2-AB73-FA87722E4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01" y="2172138"/>
            <a:ext cx="6402684" cy="3930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F6A54C-7E88-4D56-EEA5-6498C8EB006B}"/>
              </a:ext>
            </a:extLst>
          </p:cNvPr>
          <p:cNvSpPr txBox="1"/>
          <p:nvPr/>
        </p:nvSpPr>
        <p:spPr>
          <a:xfrm>
            <a:off x="867079" y="2172138"/>
            <a:ext cx="364496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Country wise Total User count  shown in Bar Chart.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As per Chart United States top the list and Canada, India second and three positions.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9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E647-600F-5427-3472-2C2C8DC1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Traffic Source Wise User 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608BF7-BCAF-98A6-C8AF-70044E846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7246" y="2581871"/>
            <a:ext cx="7396181" cy="3699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472EA9-3FB1-2A48-9BB0-ADDB433B8C09}"/>
              </a:ext>
            </a:extLst>
          </p:cNvPr>
          <p:cNvSpPr txBox="1"/>
          <p:nvPr/>
        </p:nvSpPr>
        <p:spPr>
          <a:xfrm>
            <a:off x="598573" y="2443396"/>
            <a:ext cx="32538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As per Bar Chart  Direct User top first and Organic Search second in the list.</a:t>
            </a:r>
          </a:p>
        </p:txBody>
      </p:sp>
    </p:spTree>
    <p:extLst>
      <p:ext uri="{BB962C8B-B14F-4D97-AF65-F5344CB8AC3E}">
        <p14:creationId xmlns:p14="http://schemas.microsoft.com/office/powerpoint/2010/main" val="2016757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1B35-BBF0-B85A-662C-05BAB3FED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960"/>
          </a:xfrm>
        </p:spPr>
        <p:txBody>
          <a:bodyPr/>
          <a:lstStyle/>
          <a:p>
            <a:r>
              <a:rPr lang="en-US" b="1" dirty="0"/>
              <a:t>Total Revenue Audience Type Wise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A25A-2563-9E94-2678-52B5A0C67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14075" cy="4351338"/>
          </a:xfrm>
        </p:spPr>
        <p:txBody>
          <a:bodyPr/>
          <a:lstStyle/>
          <a:p>
            <a:r>
              <a:rPr lang="en-US" dirty="0"/>
              <a:t>All user has highest Revenue followed by purchasers.</a:t>
            </a:r>
          </a:p>
          <a:p>
            <a:r>
              <a:rPr lang="en-US" dirty="0"/>
              <a:t>Recently active users and Engaged User in third and fourth position.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E97F1-553C-2E5B-8D16-0A32BBF05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537" y="2001432"/>
            <a:ext cx="6556948" cy="449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6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9107-591F-192E-6144-A9FBE3E3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Total User Count for Audience Type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B97AD-833E-D068-9ACD-7117DA3D1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8711" cy="4351338"/>
          </a:xfrm>
        </p:spPr>
        <p:txBody>
          <a:bodyPr/>
          <a:lstStyle/>
          <a:p>
            <a:r>
              <a:rPr lang="en-US" dirty="0"/>
              <a:t>All User and Non Purchaser are on top of list with Same Count.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7DB25-33E5-3541-F651-2B7EA1F63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587" y="1825625"/>
            <a:ext cx="6152213" cy="45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EE26-92CE-9F9D-A32B-88678E02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Total User by 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30C0DD-0F71-A48F-5803-DCC72B18D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6853" y="2098623"/>
            <a:ext cx="6835514" cy="4394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40AFF4-0765-A414-C5DE-7B7EECDD229E}"/>
              </a:ext>
            </a:extLst>
          </p:cNvPr>
          <p:cNvSpPr txBox="1"/>
          <p:nvPr/>
        </p:nvSpPr>
        <p:spPr>
          <a:xfrm>
            <a:off x="509666" y="2413416"/>
            <a:ext cx="38824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Unknown Age group top the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And 18-24 Age Group Seconds the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55-64 Age Group is the last.</a:t>
            </a:r>
          </a:p>
        </p:txBody>
      </p:sp>
    </p:spTree>
    <p:extLst>
      <p:ext uri="{BB962C8B-B14F-4D97-AF65-F5344CB8AC3E}">
        <p14:creationId xmlns:p14="http://schemas.microsoft.com/office/powerpoint/2010/main" val="311205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44E79-03A9-4702-F537-F8AED4E5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ADD07C-EE98-FCC6-C738-45A70CB0B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6951" y="1454047"/>
            <a:ext cx="7162621" cy="52208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880F9B-4524-1F33-D2EF-8C64851C3C51}"/>
              </a:ext>
            </a:extLst>
          </p:cNvPr>
          <p:cNvSpPr txBox="1"/>
          <p:nvPr/>
        </p:nvSpPr>
        <p:spPr>
          <a:xfrm>
            <a:off x="838200" y="2413416"/>
            <a:ext cx="28943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Page view has highest Event Count.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 purchaser Least Count.</a:t>
            </a:r>
          </a:p>
        </p:txBody>
      </p:sp>
    </p:spTree>
    <p:extLst>
      <p:ext uri="{BB962C8B-B14F-4D97-AF65-F5344CB8AC3E}">
        <p14:creationId xmlns:p14="http://schemas.microsoft.com/office/powerpoint/2010/main" val="1028687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4D00-2C21-6D14-3B63-1DC52D3F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User by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59404-DBB8-17DE-40FD-76243071B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2463" cy="4351338"/>
          </a:xfrm>
        </p:spPr>
        <p:txBody>
          <a:bodyPr/>
          <a:lstStyle/>
          <a:p>
            <a:r>
              <a:rPr lang="en-US" dirty="0"/>
              <a:t>Unknown Gender Has 57.93% highest.</a:t>
            </a:r>
          </a:p>
          <a:p>
            <a:r>
              <a:rPr lang="en-US" dirty="0"/>
              <a:t>Male Gender 22.2% and Female 19.85%.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B5FAE-6691-2BD3-1CD3-0684D987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085" y="1825625"/>
            <a:ext cx="5891135" cy="48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0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7B49-39D7-A2C5-3E37-8A91D0F9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Total Session by Audience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2DAF3-6316-CE62-0DBD-3D67C857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88633" cy="4351338"/>
          </a:xfrm>
        </p:spPr>
        <p:txBody>
          <a:bodyPr/>
          <a:lstStyle/>
          <a:p>
            <a:r>
              <a:rPr lang="en-US" dirty="0"/>
              <a:t>All Users has Highest Total Sessions followed by Non Purchasers.</a:t>
            </a:r>
          </a:p>
          <a:p>
            <a:r>
              <a:rPr lang="en-US" dirty="0"/>
              <a:t>Purchasers has Least sessions total.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367C9-8BCF-49AC-8804-50507911D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626" y="1690688"/>
            <a:ext cx="6775554" cy="497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1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1E7F-3833-72D1-F9B7-BAE6552AC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078"/>
          </a:xfrm>
        </p:spPr>
        <p:txBody>
          <a:bodyPr/>
          <a:lstStyle/>
          <a:p>
            <a:r>
              <a:rPr lang="en-US" b="1" dirty="0"/>
              <a:t>Total Users by Interest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92015-52E4-8F6E-3641-30D056175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775" y="1454046"/>
            <a:ext cx="6826770" cy="4675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4422F-8759-E22F-797E-428D564F2799}"/>
              </a:ext>
            </a:extLst>
          </p:cNvPr>
          <p:cNvSpPr txBox="1"/>
          <p:nvPr/>
        </p:nvSpPr>
        <p:spPr>
          <a:xfrm>
            <a:off x="838200" y="1454046"/>
            <a:ext cx="395865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First Place in User interest Wise is Technology/Technophiles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Second place for Banking &amp; Finance/Avid Investors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Third Place for Media &amp; Entertainment/Movie Lovers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35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EBF8-B571-2E66-46A0-6D983AC1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009"/>
          </a:xfrm>
        </p:spPr>
        <p:txBody>
          <a:bodyPr/>
          <a:lstStyle/>
          <a:p>
            <a:r>
              <a:rPr lang="en-US" b="1" dirty="0"/>
              <a:t>Retention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4EA29-E3C1-C620-1626-2C82244F0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07" y="1825625"/>
            <a:ext cx="4302177" cy="4351338"/>
          </a:xfrm>
        </p:spPr>
        <p:txBody>
          <a:bodyPr/>
          <a:lstStyle/>
          <a:p>
            <a:r>
              <a:rPr lang="en-US" dirty="0"/>
              <a:t>In Total 67K user, 57K New user and 10k old user.</a:t>
            </a:r>
          </a:p>
          <a:p>
            <a:r>
              <a:rPr lang="en-US" dirty="0"/>
              <a:t>In Percentage 15% user are old and 85% User are New users.</a:t>
            </a:r>
          </a:p>
        </p:txBody>
      </p:sp>
      <p:pic>
        <p:nvPicPr>
          <p:cNvPr id="4" name="image1.png" title="Image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5456887" y="1676218"/>
            <a:ext cx="6241686" cy="46501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7701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1541-AFB5-E0EE-42D2-B33580EE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Average Session duration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CC3105-A26F-E018-5185-AD53B911B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6675" y="1933731"/>
            <a:ext cx="6820525" cy="45591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3CF471-D724-AC50-7E30-7A7B3560D0BA}"/>
              </a:ext>
            </a:extLst>
          </p:cNvPr>
          <p:cNvSpPr txBox="1"/>
          <p:nvPr/>
        </p:nvSpPr>
        <p:spPr>
          <a:xfrm>
            <a:off x="644577" y="1933731"/>
            <a:ext cx="377752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Engaged Users Has Highest Avg Session Duration.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Non Purchasers and Users in San Francisco Has Least Avg Session Duration.</a:t>
            </a:r>
          </a:p>
        </p:txBody>
      </p:sp>
    </p:spTree>
    <p:extLst>
      <p:ext uri="{BB962C8B-B14F-4D97-AF65-F5344CB8AC3E}">
        <p14:creationId xmlns:p14="http://schemas.microsoft.com/office/powerpoint/2010/main" val="1156389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FA60-AB58-8E22-DC80-CC4B08B6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3970"/>
          </a:xfrm>
        </p:spPr>
        <p:txBody>
          <a:bodyPr/>
          <a:lstStyle/>
          <a:p>
            <a:r>
              <a:rPr lang="en-US" b="1" dirty="0"/>
              <a:t>User Count for Landing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C2748-C6D5-8960-2D1E-8CC85A57B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2059" y="1379096"/>
            <a:ext cx="7240248" cy="5113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5AB8CF-038F-0459-7BAF-3B1B980BC0AA}"/>
              </a:ext>
            </a:extLst>
          </p:cNvPr>
          <p:cNvSpPr txBox="1"/>
          <p:nvPr/>
        </p:nvSpPr>
        <p:spPr>
          <a:xfrm>
            <a:off x="719528" y="1858780"/>
            <a:ext cx="31179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/ and (not set )two page has highest User and Session Count.</a:t>
            </a:r>
          </a:p>
        </p:txBody>
      </p:sp>
    </p:spTree>
    <p:extLst>
      <p:ext uri="{BB962C8B-B14F-4D97-AF65-F5344CB8AC3E}">
        <p14:creationId xmlns:p14="http://schemas.microsoft.com/office/powerpoint/2010/main" val="3862585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D9715-DF53-A3F5-A093-71B0BE6A4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82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CF9DE9-5CE2-5F7D-DB44-1933E4D79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37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8BDDEA-9F08-EB70-6A91-BB8E98A38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62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95DA1-AED2-EC95-3715-ADD9A69F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021A-2744-63E1-FD74-154FE9D3F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9312"/>
            <a:ext cx="10764187" cy="5808688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Age Group</a:t>
            </a:r>
          </a:p>
          <a:p>
            <a:r>
              <a:rPr lang="en-US" sz="2200" dirty="0"/>
              <a:t>For Age Group 25-34 and 35-44 has Highest Engagement Rate than 18-24 age Group which has high number of Users.</a:t>
            </a:r>
          </a:p>
          <a:p>
            <a:r>
              <a:rPr lang="en-US" sz="2200" dirty="0"/>
              <a:t>62% of Users Age Group data missing which is very important.</a:t>
            </a:r>
          </a:p>
          <a:p>
            <a:pPr marL="0" indent="0">
              <a:buNone/>
            </a:pPr>
            <a:r>
              <a:rPr lang="en-US" sz="2400" b="1" dirty="0"/>
              <a:t>Country </a:t>
            </a:r>
            <a:r>
              <a:rPr lang="en-US" sz="20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 </a:t>
            </a:r>
            <a:r>
              <a:rPr lang="en-US" sz="2200" dirty="0"/>
              <a:t>Among 156 Countries having users but Revenue generated only Through three Countries US, Indonesia and Qatar.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Event Count and Engagement Rate H</a:t>
            </a:r>
            <a:r>
              <a:rPr lang="en-US" sz="2000" dirty="0"/>
              <a:t>igh Countries need to Identify  and focus on Remarketing Campaigns.</a:t>
            </a:r>
          </a:p>
          <a:p>
            <a:pPr marL="0" indent="0">
              <a:buNone/>
            </a:pPr>
            <a:r>
              <a:rPr lang="en-US" sz="2400" b="1" dirty="0"/>
              <a:t>Interest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Technology/Technophiles ,Media &amp; Entertainment/Movie Lovers and Media &amp; Entertainment/Light TV Viewers has high user and Revenue. So we can Increase count of this three type of content in Future Campaigns.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08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FE597-9182-A2C4-1FD9-37EA17EC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AE8D-B508-308F-7C77-A355DAEA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4147"/>
          </a:xfrm>
        </p:spPr>
        <p:txBody>
          <a:bodyPr/>
          <a:lstStyle/>
          <a:p>
            <a:r>
              <a:rPr lang="en-US" b="1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A571-A792-7888-AB17-7D14252E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272"/>
            <a:ext cx="10719216" cy="5383603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Gender</a:t>
            </a:r>
          </a:p>
          <a:p>
            <a:r>
              <a:rPr lang="en-US" sz="2200" dirty="0"/>
              <a:t>In Total 58% of Data Missing for Gender Data availed .</a:t>
            </a:r>
          </a:p>
          <a:p>
            <a:r>
              <a:rPr lang="en-US" sz="2200" dirty="0"/>
              <a:t>Revenue wise Female Gender has high than male. More Focus on Female Users</a:t>
            </a:r>
          </a:p>
          <a:p>
            <a:pPr marL="0" indent="0">
              <a:buNone/>
            </a:pPr>
            <a:r>
              <a:rPr lang="en-US" sz="2200" b="1" dirty="0"/>
              <a:t>Loading Page-Improve Conversion Rate </a:t>
            </a:r>
          </a:p>
          <a:p>
            <a:r>
              <a:rPr lang="en-US" sz="2200" dirty="0"/>
              <a:t>Total Users are high, but Revenue is relatively low. </a:t>
            </a:r>
          </a:p>
          <a:p>
            <a:r>
              <a:rPr lang="en-US" sz="2200" dirty="0"/>
              <a:t>Large gap between Visitors → Key Events → Purchases. </a:t>
            </a:r>
          </a:p>
          <a:p>
            <a:pPr marL="0" indent="0">
              <a:buNone/>
            </a:pPr>
            <a:r>
              <a:rPr lang="en-US" sz="2200" b="1" dirty="0"/>
              <a:t>Recommendation to Optimize landing pages with:</a:t>
            </a:r>
          </a:p>
          <a:p>
            <a:r>
              <a:rPr lang="en-US" sz="2200" dirty="0"/>
              <a:t>Stronger CTAs - Simplified forms - Faster page load speed - Trust signals (reviews, ratings) </a:t>
            </a:r>
          </a:p>
          <a:p>
            <a:pPr marL="0" indent="0">
              <a:buNone/>
            </a:pPr>
            <a:r>
              <a:rPr lang="en-US" sz="2200" b="1" dirty="0"/>
              <a:t>Expected Outcome:</a:t>
            </a:r>
            <a:r>
              <a:rPr lang="en-US" sz="2200" dirty="0"/>
              <a:t> Higher conversion rate and revenue per user.</a:t>
            </a:r>
          </a:p>
          <a:p>
            <a:pPr marL="0" indent="0">
              <a:buNone/>
            </a:pPr>
            <a:r>
              <a:rPr lang="en-US" sz="2400" b="1" dirty="0"/>
              <a:t>Remarketing</a:t>
            </a:r>
          </a:p>
          <a:p>
            <a:pPr marL="0" indent="0">
              <a:buNone/>
            </a:pPr>
            <a:r>
              <a:rPr lang="en-US" sz="2200" dirty="0"/>
              <a:t>Launch remarketing campaigns for non-purchasers.</a:t>
            </a:r>
          </a:p>
          <a:p>
            <a:pPr marL="0" indent="0">
              <a:buNone/>
            </a:pPr>
            <a:r>
              <a:rPr lang="en-US" sz="2200" dirty="0"/>
              <a:t>Focus on audience segments with highest engagement and revenue.</a:t>
            </a:r>
          </a:p>
          <a:p>
            <a:pPr marL="0" indent="0">
              <a:buNone/>
            </a:pP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36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1F040-D994-08C6-701F-0EF402A7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0E23-D4AC-436C-1776-DBE825CFE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</p:spPr>
        <p:txBody>
          <a:bodyPr/>
          <a:lstStyle/>
          <a:p>
            <a:r>
              <a:rPr lang="en-US" b="1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B549-31BD-DD73-BFD0-33EB15F1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338632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Focus on High-Performing Traffic Sources and Increase investment those channels </a:t>
            </a:r>
          </a:p>
          <a:p>
            <a:pPr marL="0" indent="0">
              <a:buNone/>
            </a:pPr>
            <a:r>
              <a:rPr lang="en-US" sz="2200" b="1" dirty="0"/>
              <a:t>Direct -Organic Search-Referral</a:t>
            </a:r>
            <a:r>
              <a:rPr lang="en-US" sz="2200" dirty="0"/>
              <a:t> </a:t>
            </a:r>
          </a:p>
          <a:p>
            <a:r>
              <a:rPr lang="en-US" sz="2200" dirty="0"/>
              <a:t>Based of these three channel Brand Awareness is Good.</a:t>
            </a:r>
          </a:p>
          <a:p>
            <a:r>
              <a:rPr lang="en-US" sz="2200" dirty="0"/>
              <a:t>Scale SEO efforts to increase Organic Search traffic.</a:t>
            </a:r>
          </a:p>
          <a:p>
            <a:r>
              <a:rPr lang="en-US" sz="2200" dirty="0"/>
              <a:t>Strengthen Social Media marketing.</a:t>
            </a:r>
          </a:p>
          <a:p>
            <a:r>
              <a:rPr lang="en-US" sz="2200" dirty="0"/>
              <a:t>Expand referral partnerships.</a:t>
            </a:r>
          </a:p>
          <a:p>
            <a:pPr marL="0" indent="0">
              <a:buNone/>
            </a:pPr>
            <a:r>
              <a:rPr lang="en-US" sz="2200" b="1" dirty="0"/>
              <a:t>Paid Search </a:t>
            </a:r>
          </a:p>
          <a:p>
            <a:r>
              <a:rPr lang="en-US" sz="2200" dirty="0"/>
              <a:t>Keyword targeting-Landing page relevance-Budget allocation</a:t>
            </a:r>
          </a:p>
          <a:p>
            <a:r>
              <a:rPr lang="en-US" sz="2200" dirty="0"/>
              <a:t>Optimize Paid Search campaigns for better ROI.</a:t>
            </a:r>
          </a:p>
          <a:p>
            <a:pPr marL="0" indent="0">
              <a:buNone/>
            </a:pPr>
            <a:r>
              <a:rPr lang="en-US" sz="2200" b="1" dirty="0"/>
              <a:t>Organic Social </a:t>
            </a:r>
          </a:p>
          <a:p>
            <a:r>
              <a:rPr lang="en-US" sz="2200" dirty="0"/>
              <a:t>Increase content frequency </a:t>
            </a:r>
          </a:p>
          <a:p>
            <a:pPr marL="0" indent="0">
              <a:buNone/>
            </a:pPr>
            <a:r>
              <a:rPr lang="en-US" sz="2200" b="1" dirty="0"/>
              <a:t>Email</a:t>
            </a:r>
            <a:r>
              <a:rPr lang="en-US" sz="2200" dirty="0"/>
              <a:t> -Build an Email Marketing program.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54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66F81-8732-60E8-3FA3-CF46EEB6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7F971-606F-CF36-1C6E-6F46780C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</p:spPr>
        <p:txBody>
          <a:bodyPr/>
          <a:lstStyle/>
          <a:p>
            <a:r>
              <a:rPr lang="en-US" b="1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B6F8-CF92-9312-E801-4E3FAFF7C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338632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Launch remarketing campaigns for non-purchasers.</a:t>
            </a:r>
          </a:p>
          <a:p>
            <a:pPr marL="0" indent="0">
              <a:buNone/>
            </a:pPr>
            <a:r>
              <a:rPr lang="en-US" dirty="0"/>
              <a:t>Focus on audience segments with highest engagement and revenue.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94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3581</TotalTime>
  <Words>643</Words>
  <Application>Microsoft Office PowerPoint</Application>
  <PresentationFormat>Widescreen</PresentationFormat>
  <Paragraphs>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Data-Driven Insights for Digital Marketing Campaigns </vt:lpstr>
      <vt:lpstr>Data Cleaning</vt:lpstr>
      <vt:lpstr>Important KPI’s from Data Set</vt:lpstr>
      <vt:lpstr>Country Wise User Total</vt:lpstr>
      <vt:lpstr>Traffic Source Wise User Count</vt:lpstr>
      <vt:lpstr>Total Revenue Audience Type Wise</vt:lpstr>
      <vt:lpstr>Total User Count for Audience Type </vt:lpstr>
      <vt:lpstr>Total User by Age</vt:lpstr>
      <vt:lpstr>Event Count</vt:lpstr>
      <vt:lpstr>Total User by Gender</vt:lpstr>
      <vt:lpstr>Total Session by Audience Type</vt:lpstr>
      <vt:lpstr>Total Users by Interest</vt:lpstr>
      <vt:lpstr>Retention Overview</vt:lpstr>
      <vt:lpstr>Average Session duration</vt:lpstr>
      <vt:lpstr>User Count for Landing Page</vt:lpstr>
      <vt:lpstr>PowerPoint Presentation</vt:lpstr>
      <vt:lpstr>PowerPoint Presentation</vt:lpstr>
      <vt:lpstr>PowerPoint Presentation</vt:lpstr>
      <vt:lpstr>Recommendations </vt:lpstr>
      <vt:lpstr>Recommendations </vt:lpstr>
      <vt:lpstr>Recommendations </vt:lpstr>
      <vt:lpstr>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2026-06-03T00:57:41Z</dcterms:created>
  <dcterms:modified xsi:type="dcterms:W3CDTF">2026-06-05T12:49:13Z</dcterms:modified>
</cp:coreProperties>
</file>